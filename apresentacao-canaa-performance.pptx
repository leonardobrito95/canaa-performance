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A4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A2A4D"/>
                </a:solidFill>
                <a:latin typeface="Calibri"/>
              </a:rPr>
              <a:t>Volume por setor (indicativo)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de atendimentos (últimos 2 meses)</c:v>
                </c:pt>
              </c:strCache>
            </c:strRef>
          </c:tx>
          <c:spPr>
            <a:solidFill>
              <a:srgbClr val="0A2A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A2A4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SAC</c:v>
                  </c:pt>
                  <c:pt idx="1">
                    <c:v>N1</c:v>
                  </c:pt>
                  <c:pt idx="2">
                    <c:v>N2</c:v>
                  </c:pt>
                  <c:pt idx="3">
                    <c:v>Cobrança</c:v>
                  </c:pt>
                  <c:pt idx="4">
                    <c:v>Vendas</c:v>
                  </c:pt>
                  <c:pt idx="5">
                    <c:v>Retenção</c:v>
                  </c:pt>
                  <c:pt idx="6">
                    <c:v>Pós-Venda</c:v>
                  </c:pt>
                  <c:pt idx="7">
                    <c:v>Backoffice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420</c:v>
                </c:pt>
                <c:pt idx="1">
                  <c:v>610</c:v>
                </c:pt>
                <c:pt idx="2">
                  <c:v>95</c:v>
                </c:pt>
                <c:pt idx="3">
                  <c:v>340</c:v>
                </c:pt>
                <c:pt idx="4">
                  <c:v>275</c:v>
                </c:pt>
                <c:pt idx="5">
                  <c:v>180</c:v>
                </c:pt>
                <c:pt idx="6">
                  <c:v>150</c:v>
                </c:pt>
                <c:pt idx="7">
                  <c:v>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A2A4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1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EEF3F8"/>
        </a:solidFill>
        <a:ln>
          <a:noFill/>
        </a:ln>
        <a:effectLst/>
      </c:spPr>
    </c:plotArea>
    <c:plotVisOnly val="1"/>
    <c:dispBlanksAs val="span"/>
  </c:chart>
  <c:spPr>
    <a:solidFill>
      <a:srgbClr val="EEF3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97280"/>
            <a:ext cx="4754880" cy="4754880"/>
          </a:xfrm>
          <a:prstGeom prst="ellipse">
            <a:avLst/>
          </a:prstGeom>
          <a:ln w="1397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81160" y="1600200"/>
            <a:ext cx="3749040" cy="3749040"/>
          </a:xfrm>
          <a:prstGeom prst="ellipse">
            <a:avLst/>
          </a:prstGeom>
          <a:ln w="13970">
            <a:solidFill>
              <a:srgbClr val="00C9A7">
                <a:alpha val="3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2103120"/>
            <a:ext cx="2743200" cy="2743200"/>
          </a:xfrm>
          <a:prstGeom prst="ellipse">
            <a:avLst/>
          </a:prstGeom>
          <a:ln w="13970">
            <a:solidFill>
              <a:srgbClr val="00C9A7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7000" y="2606040"/>
            <a:ext cx="1737360" cy="1737360"/>
          </a:xfrm>
          <a:prstGeom prst="ellipse">
            <a:avLst/>
          </a:prstGeom>
          <a:ln w="13970">
            <a:solidFill>
              <a:srgbClr val="00C9A7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CANAÃ TELECOM  ·  USO INTERNO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Canaã Performance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33101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cérebro operacional da Canaã Telecom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0080" y="3977640"/>
            <a:ext cx="50292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6052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Antes, cada informação vivia num sistema diferente e a comissão era auditada à mão. Hoje é um único ponto de acesso: indicadores, alertas e os próprios dashboards legados de todos os setores.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referência: Maio – Junho de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uso interno  ·  Gestão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VISÃO GERAL DO PERÍODO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principal ponto de acesso à informação da empresa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Canaã Performance deixou de ser um painel comercial: hoje é o ponto único de acesso a indicadores, alertas do CAIO e aos dashboards legados de PowerBI, incorporados via Azure direto dentro do sistema.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894076" y="2606040"/>
            <a:ext cx="3200400" cy="1508760"/>
          </a:xfrm>
          <a:prstGeom prst="line">
            <a:avLst/>
          </a:prstGeom>
          <a:noFill/>
          <a:ln w="17780">
            <a:solidFill>
              <a:srgbClr val="2C6E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94276" y="2606040"/>
            <a:ext cx="1600200" cy="1508760"/>
          </a:xfrm>
          <a:prstGeom prst="line">
            <a:avLst/>
          </a:prstGeom>
          <a:noFill/>
          <a:ln w="17780">
            <a:solidFill>
              <a:srgbClr val="2C6E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4476" y="2606040"/>
            <a:ext cx="914" cy="1508760"/>
          </a:xfrm>
          <a:prstGeom prst="line">
            <a:avLst/>
          </a:prstGeom>
          <a:noFill/>
          <a:ln w="17780">
            <a:solidFill>
              <a:srgbClr val="2C6E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6094476" y="2606040"/>
            <a:ext cx="1600200" cy="1508760"/>
          </a:xfrm>
          <a:prstGeom prst="line">
            <a:avLst/>
          </a:prstGeom>
          <a:noFill/>
          <a:ln w="17780">
            <a:solidFill>
              <a:srgbClr val="2C6E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094476" y="2606040"/>
            <a:ext cx="3200400" cy="1508760"/>
          </a:xfrm>
          <a:prstGeom prst="line">
            <a:avLst/>
          </a:prstGeom>
          <a:noFill/>
          <a:ln w="17780">
            <a:solidFill>
              <a:srgbClr val="2C6E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894076" y="4114800"/>
            <a:ext cx="3200400" cy="1463040"/>
          </a:xfrm>
          <a:prstGeom prst="line">
            <a:avLst/>
          </a:prstGeom>
          <a:noFill/>
          <a:ln w="17780">
            <a:solidFill>
              <a:srgbClr val="3A5C8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 flipV="1">
            <a:off x="4494276" y="4114800"/>
            <a:ext cx="1600200" cy="1463040"/>
          </a:xfrm>
          <a:prstGeom prst="line">
            <a:avLst/>
          </a:prstGeom>
          <a:noFill/>
          <a:ln w="17780">
            <a:solidFill>
              <a:srgbClr val="3A5C82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094476" y="4114800"/>
            <a:ext cx="914" cy="1463040"/>
          </a:xfrm>
          <a:prstGeom prst="line">
            <a:avLst/>
          </a:prstGeom>
          <a:noFill/>
          <a:ln w="17780">
            <a:solidFill>
              <a:srgbClr val="3A5C8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094476" y="4114800"/>
            <a:ext cx="1600200" cy="1463040"/>
          </a:xfrm>
          <a:prstGeom prst="line">
            <a:avLst/>
          </a:prstGeom>
          <a:noFill/>
          <a:ln w="17780">
            <a:solidFill>
              <a:srgbClr val="2C6E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4476" y="4114800"/>
            <a:ext cx="3200400" cy="1463040"/>
          </a:xfrm>
          <a:prstGeom prst="line">
            <a:avLst/>
          </a:prstGeom>
          <a:noFill/>
          <a:ln w="17780">
            <a:solidFill>
              <a:srgbClr val="2C6E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36108" y="3456432"/>
            <a:ext cx="1316736" cy="1316736"/>
          </a:xfrm>
          <a:prstGeom prst="ellipse">
            <a:avLst/>
          </a:prstGeom>
          <a:solidFill>
            <a:srgbClr val="00C9A7"/>
          </a:solidFill>
          <a:ln w="38100">
            <a:solidFill>
              <a:srgbClr val="071D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4668" y="3456432"/>
            <a:ext cx="1499616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71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CANAÃ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71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99716" y="2011680"/>
            <a:ext cx="1188720" cy="1188720"/>
          </a:xfrm>
          <a:prstGeom prst="ellipse">
            <a:avLst/>
          </a:prstGeom>
          <a:solidFill>
            <a:srgbClr val="133A63"/>
          </a:solidFill>
          <a:ln w="2032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62556" y="2121408"/>
            <a:ext cx="14630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Vistoria de POP,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massivo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99916" y="2011680"/>
            <a:ext cx="1188720" cy="1188720"/>
          </a:xfrm>
          <a:prstGeom prst="ellipse">
            <a:avLst/>
          </a:prstGeom>
          <a:solidFill>
            <a:srgbClr val="133A63"/>
          </a:solidFill>
          <a:ln w="2032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2756" y="2121408"/>
            <a:ext cx="14630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Monitoria de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da base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00116" y="2011680"/>
            <a:ext cx="1188720" cy="1188720"/>
          </a:xfrm>
          <a:prstGeom prst="ellipse">
            <a:avLst/>
          </a:prstGeom>
          <a:solidFill>
            <a:srgbClr val="133A63"/>
          </a:solidFill>
          <a:ln w="2032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62956" y="2121408"/>
            <a:ext cx="14630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e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00316" y="2011680"/>
            <a:ext cx="1188720" cy="1188720"/>
          </a:xfrm>
          <a:prstGeom prst="ellipse">
            <a:avLst/>
          </a:prstGeom>
          <a:solidFill>
            <a:srgbClr val="133A63"/>
          </a:solidFill>
          <a:ln w="2032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3156" y="2121408"/>
            <a:ext cx="14630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Vendas, BDR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700516" y="2011680"/>
            <a:ext cx="1188720" cy="1188720"/>
          </a:xfrm>
          <a:prstGeom prst="ellipse">
            <a:avLst/>
          </a:prstGeom>
          <a:solidFill>
            <a:srgbClr val="133A63"/>
          </a:solidFill>
          <a:ln w="2032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63356" y="2121408"/>
            <a:ext cx="14630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SAC, N1/N2,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Cobr. e Retenção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99716" y="4983480"/>
            <a:ext cx="1188720" cy="1188720"/>
          </a:xfrm>
          <a:prstGeom prst="ellipse">
            <a:avLst/>
          </a:prstGeom>
          <a:solidFill>
            <a:srgbClr val="071D38"/>
          </a:solidFill>
          <a:ln w="16510">
            <a:solidFill>
              <a:srgbClr val="5C7EA3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2162556" y="53766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Compras*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99916" y="4983480"/>
            <a:ext cx="1188720" cy="1188720"/>
          </a:xfrm>
          <a:prstGeom prst="ellipse">
            <a:avLst/>
          </a:prstGeom>
          <a:solidFill>
            <a:srgbClr val="071D38"/>
          </a:solidFill>
          <a:ln w="16510">
            <a:solidFill>
              <a:srgbClr val="5C7EA3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3762756" y="53766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Estoque*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00116" y="4983480"/>
            <a:ext cx="1188720" cy="1188720"/>
          </a:xfrm>
          <a:prstGeom prst="ellipse">
            <a:avLst/>
          </a:prstGeom>
          <a:solidFill>
            <a:srgbClr val="071D38"/>
          </a:solidFill>
          <a:ln w="16510">
            <a:solidFill>
              <a:srgbClr val="5C7EA3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5362956" y="53766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Financeiro*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100316" y="4983480"/>
            <a:ext cx="1188720" cy="1188720"/>
          </a:xfrm>
          <a:prstGeom prst="ellipse">
            <a:avLst/>
          </a:prstGeom>
          <a:solidFill>
            <a:srgbClr val="133A63"/>
          </a:solidFill>
          <a:ln w="2032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3156" y="5093208"/>
            <a:ext cx="14630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 todos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alertas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700516" y="4983480"/>
            <a:ext cx="1188720" cy="1188720"/>
          </a:xfrm>
          <a:prstGeom prst="ellipse">
            <a:avLst/>
          </a:prstGeom>
          <a:solidFill>
            <a:srgbClr val="133A63"/>
          </a:solidFill>
          <a:ln w="2032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63356" y="5093208"/>
            <a:ext cx="14630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Pós-ativação,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A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terceiras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6080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Compras, Estoque e Financeiro: módulos futuros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1 de 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Canaã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PROJETOS E AÇÕES EXECUTADAS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núcleo de atendimento e gestão de pessoas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E44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03120"/>
            <a:ext cx="164592" cy="16459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993392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Solução (call center)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2578608"/>
            <a:ext cx="4764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humano com 22 critérios, análise de IA em massa (~543 atendimentos de texto/dia) e alertas operacionais em tempo real (fila, agente ausente, conversa parada).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E44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01968" y="2103120"/>
            <a:ext cx="164592" cy="16459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93392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de Alertas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1968" y="2578608"/>
            <a:ext cx="4764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único que consolida os alertas de todos os setores (Centro de Solução, Redes, Infraestrutura) por origem e criticidade.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E44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4389120"/>
            <a:ext cx="164592" cy="16459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4" name="Text 12"/>
          <p:cNvSpPr/>
          <p:nvPr/>
        </p:nvSpPr>
        <p:spPr>
          <a:xfrm>
            <a:off x="1115568" y="4279392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e Produtividade (módulo RH)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" y="4864608"/>
            <a:ext cx="4764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por operador com metas e limites de ociosidade configuráveis pela própria gestão, sem depender de código.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402336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E44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01968" y="4389120"/>
            <a:ext cx="164592" cy="164592"/>
          </a:xfrm>
          <a:prstGeom prst="ellipse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6876288" y="4279392"/>
            <a:ext cx="4526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Aprimorar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01968" y="4864608"/>
            <a:ext cx="476402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terceirizada de atendimento entrou na mesma régua de monitoria dos colaboradores próprios, sem exceção.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2 de 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Canaã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PROJETOS E AÇÕES EXECUTADAS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Integrações que já rodam e ainda passam despercebidas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133A63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1168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071D3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542032"/>
            <a:ext cx="3054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OTDR — falhas massivas de rede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291840"/>
            <a:ext cx="305409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quedas de sinal em massa na rede e aciona automaticamente dois canais: a API da Aprimorar (abre o caso direto no sistema da terceirizada) e o WhatsApp via API da Meta.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0832" y="178308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133A63"/>
          </a:solidFill>
          <a:ln/>
        </p:spPr>
      </p:sp>
      <p:sp>
        <p:nvSpPr>
          <p:cNvPr id="10" name="Shape 8"/>
          <p:cNvSpPr/>
          <p:nvPr/>
        </p:nvSpPr>
        <p:spPr>
          <a:xfrm>
            <a:off x="4626864" y="201168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071D3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EM UNIFICAÇÃO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26864" y="2542032"/>
            <a:ext cx="3054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Vistoria de POP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3291840"/>
            <a:ext cx="305409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na mesma VM do Canaã Performance, com IP próprio. Já tem sistema completo de acompanhamento de vistorias e alertas de pendência; falta só entrar na navegação central.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93024" y="178308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133A63"/>
          </a:solidFill>
          <a:ln/>
        </p:spPr>
      </p:sp>
      <p:sp>
        <p:nvSpPr>
          <p:cNvPr id="15" name="Shape 13"/>
          <p:cNvSpPr/>
          <p:nvPr/>
        </p:nvSpPr>
        <p:spPr>
          <a:xfrm>
            <a:off x="8449056" y="201168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071D3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49056" y="2542032"/>
            <a:ext cx="305409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legados (PowerBI)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49056" y="3291840"/>
            <a:ext cx="3054096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painéis que a empresa já usava continuam vivos, agora incorporados via Azure direto dentro do Canaã Performance, sem precisar abrir outro sistema.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2 de 9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Canaã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PROJETOS E AÇÕES EXECUTADAS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CAIO: o cérebro dentro do cérebro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" cy="530352"/>
          </a:xfrm>
          <a:prstGeom prst="ellipse">
            <a:avLst/>
          </a:prstGeom>
          <a:solidFill>
            <a:srgbClr val="0A2A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234440" y="1627632"/>
            <a:ext cx="10424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E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63040" y="1627632"/>
            <a:ext cx="4160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todos os setores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15000" y="1627632"/>
            <a:ext cx="5806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Solução, Retenção, Redes, Infraestrutura, Comercial e Comissão, tudo na mesma conversa.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30352" cy="530352"/>
          </a:xfrm>
          <a:prstGeom prst="ellipse">
            <a:avLst/>
          </a:prstGeom>
          <a:solidFill>
            <a:srgbClr val="0A2A4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420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234440" y="2523744"/>
            <a:ext cx="10424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E4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463040" y="2523744"/>
            <a:ext cx="4160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Investigação histórica e em tempo real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15000" y="2523744"/>
            <a:ext cx="5806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limita ao dado do dia: cruza janelas de tempo diferentes conforme a pergunta exige.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530352" cy="530352"/>
          </a:xfrm>
          <a:prstGeom prst="ellipse">
            <a:avLst/>
          </a:prstGeom>
          <a:solidFill>
            <a:srgbClr val="0A2A4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3814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1234440" y="3419856"/>
            <a:ext cx="10424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E44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463040" y="3419856"/>
            <a:ext cx="4160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automática de Retenção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15000" y="3419856"/>
            <a:ext cx="5806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se a negociação registrada bate com a conversa real do cliente no OpaSuite.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530352" cy="530352"/>
          </a:xfrm>
          <a:prstGeom prst="ellipse">
            <a:avLst/>
          </a:prstGeom>
          <a:solidFill>
            <a:srgbClr val="0A2A4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342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1234440" y="4315968"/>
            <a:ext cx="10424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E44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63040" y="4315968"/>
            <a:ext cx="4160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e produtividade do Centro de Solução e Comercial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15000" y="4315968"/>
            <a:ext cx="5806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metas e ociosidade dos dois setores, lado a lado.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230368"/>
            <a:ext cx="530352" cy="530352"/>
          </a:xfrm>
          <a:prstGeom prst="ellipse">
            <a:avLst/>
          </a:prstGeom>
          <a:solidFill>
            <a:srgbClr val="0A2A4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23036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234440" y="5212080"/>
            <a:ext cx="10424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E44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5212080"/>
            <a:ext cx="4160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de indicadores sob demanda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5212080"/>
            <a:ext cx="5806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relatório de qualquer módulo que já acessa, na hora ou no resumo diário automático.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2 de 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Canaã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EVIDÊNCIAS E PROVA DE EXECUÇÃO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Números que comprovam que o sistema está rodando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33A6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5623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 mil+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interações do CAIO já registradas no chat de gestão (logs de uso real)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70832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33A63"/>
          </a:solidFill>
          <a:ln/>
        </p:spPr>
      </p:sp>
      <p:sp>
        <p:nvSpPr>
          <p:cNvPr id="8" name="Text 6"/>
          <p:cNvSpPr/>
          <p:nvPr/>
        </p:nvSpPr>
        <p:spPr>
          <a:xfrm>
            <a:off x="4599432" y="185623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543/dia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99432" y="256032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atendimentos de texto analisados automaticamente por IA (Motivo, Script, Sentimento)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93024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33A63"/>
          </a:solidFill>
          <a:ln/>
        </p:spPr>
      </p:sp>
      <p:sp>
        <p:nvSpPr>
          <p:cNvPr id="11" name="Text 9"/>
          <p:cNvSpPr/>
          <p:nvPr/>
        </p:nvSpPr>
        <p:spPr>
          <a:xfrm>
            <a:off x="8421624" y="185623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7.861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421624" y="256032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QA humano migrados e preservados, sem recálculo de notas históricas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33A6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5079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R$ 4,49 mi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77240" y="47548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contas a receber acima de 90 dias, hoje visíveis e segmentadas por faixa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70832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33A63"/>
          </a:solidFill>
          <a:ln/>
        </p:spPr>
      </p:sp>
      <p:sp>
        <p:nvSpPr>
          <p:cNvPr id="17" name="Text 15"/>
          <p:cNvSpPr/>
          <p:nvPr/>
        </p:nvSpPr>
        <p:spPr>
          <a:xfrm>
            <a:off x="4599432" y="405079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628 mil+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99432" y="47548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do motor real de cobrança (crm_cobrança) já mapeadas para o novo módulo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93024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33A63"/>
          </a:solidFill>
          <a:ln/>
        </p:spPr>
      </p:sp>
      <p:sp>
        <p:nvSpPr>
          <p:cNvPr id="20" name="Text 18"/>
          <p:cNvSpPr/>
          <p:nvPr/>
        </p:nvSpPr>
        <p:spPr>
          <a:xfrm>
            <a:off x="8421624" y="405079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arquivos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421624" y="47548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entregues no último commit de consolidação (Central de Alertas, RH e correções)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3 de 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Canaã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INDICADORES DE DESEMPENHO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gestão passa a enxergar, setor a setor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91640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E44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59168" y="17647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 / TME por setor e operador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059168" y="2075688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de atendimento e de espera, com o CAIO acompanhando o histórico.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858000" y="2715768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E44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59168" y="27889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Jornada, eficiência e ociosidade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059168" y="3099816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 produtividade definidas pela própria gestão, sem editar código.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858000" y="3739896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E44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59168" y="38130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e ranking de atendentes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059168" y="4123944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Satisfação do cliente e ranking, agora populados corretamente.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58000" y="4764024"/>
            <a:ext cx="4800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E44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59168" y="483717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de rede e pendências de POP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059168" y="5148072"/>
            <a:ext cx="4389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OTDR e Vistoria de POP entram no mesmo painel de alertas.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4 de 9  ·  Volume por setor é ilustrativo do formato do indicador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Canaã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ANÁLISE COMPARATIVA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sistemas soltos a um único cérebro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1030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800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3000"/>
              </a:spcAft>
              <a:buSzPct val="100000"/>
              <a:buChar char="✖"/>
            </a:pPr>
            <a:r>
              <a:rPr lang="en-US" sz="1400" dirty="0">
                <a:solidFill>
                  <a:srgbClr val="C2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informação vivia num sistema diferente: atendimento, rede, cobrança e comercial, cada um no seu canto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3000"/>
              </a:spcAft>
              <a:buNone/>
            </a:pPr>
            <a:r>
              <a:rPr lang="en-US" sz="1400" dirty="0">
                <a:solidFill>
                  <a:srgbClr val="C2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Comissão auditada manualmente, item por item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3000"/>
              </a:spcAft>
              <a:buNone/>
            </a:pPr>
            <a:r>
              <a:rPr lang="en-US" sz="1400" dirty="0">
                <a:solidFill>
                  <a:srgbClr val="C2D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respondia só sobre diagnóstico de instalação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00C9A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65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71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(JUL/2026)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651760"/>
            <a:ext cx="4800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3000"/>
              </a:spcAft>
              <a:buSzPct val="100000"/>
              <a:buChar char="✔"/>
            </a:pPr>
            <a:r>
              <a:rPr lang="en-US" sz="1400" dirty="0">
                <a:solidFill>
                  <a:srgbClr val="071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hub concentra atendimento, retenção, redes/OTDR, vistoria de POP, comercial e os dashboards legados de PowerBI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3000"/>
              </a:spcAft>
              <a:buNone/>
            </a:pPr>
            <a:r>
              <a:rPr lang="en-US" sz="1400" dirty="0">
                <a:solidFill>
                  <a:srgbClr val="071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Comissão auditada automaticamente pelo sistema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3000"/>
              </a:spcAft>
              <a:buNone/>
            </a:pPr>
            <a:r>
              <a:rPr lang="en-US" sz="1400" dirty="0">
                <a:solidFill>
                  <a:srgbClr val="071D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acessa todos os módulos, investiga histórico e tempo real, e audita Retenção sozinho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5 de 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Canaã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ANÁLISE FINANCEIRA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sistema já protege receita e reduz risco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Canaã Performance não gera receita diretamente: seu valor está em dar visibilidade sobre dinheiro que já é da empresa, reagir mais rápido a problemas de rede e reduzir retrabalho manual.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E44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2423160"/>
            <a:ext cx="3054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R$ 4,49 milhões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3337560"/>
            <a:ext cx="305409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contas a receber com mais de 90 dias de atraso, hoje segmentadas por faixa de inadimplência, antes sem visibilidade consolidada para a gestão de Cobrança.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21488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E44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26864" y="2423160"/>
            <a:ext cx="3054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 mais rápida a falhas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26864" y="3337560"/>
            <a:ext cx="305409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OTDR aciona a Aprimorar (API) e o WhatsApp automaticamente numa falha massiva, reduzindo o tempo até o primeiro atendimento e o risco de multa por SLA.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93024" y="2148840"/>
            <a:ext cx="3566160" cy="39319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A2E44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49056" y="2423160"/>
            <a:ext cx="30540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retrabalho manual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49056" y="3337560"/>
            <a:ext cx="3054096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comissão passou a ser auditada pelo sistema em vez de item por item, e o diagnóstico por foto reduz o tempo de análise caso a caso.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6 de 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Canaã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PRINCIPAIS PROBLEMAS E PONTOS DE ATENÇÃO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precisa de decisão ou dado melhor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133A6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960120"/>
          </a:xfrm>
          <a:prstGeom prst="roundRect">
            <a:avLst/>
          </a:prstGeom>
          <a:solidFill>
            <a:srgbClr val="E8A9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por ligação ainda não existe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11226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só temos TMA e TME confiáveis; volume de atendimento por ligação (não por texto) ainda não é medido, e já está sinalizado como limitação conhecida na própria dashboard.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133A63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834640"/>
            <a:ext cx="82296" cy="960120"/>
          </a:xfrm>
          <a:prstGeom prst="roundRect">
            <a:avLst/>
          </a:prstGeom>
          <a:solidFill>
            <a:srgbClr val="E8A93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260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 de N2 desatualizado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325526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Ubiratan e Rafael Brito estão marcados como inativos no cadastro, distorcendo o setor real deles. Identidade de "Manoel" como N2 ainda precisa ser confirmada.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133A63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977640"/>
            <a:ext cx="82296" cy="960120"/>
          </a:xfrm>
          <a:prstGeom prst="roundRect">
            <a:avLst/>
          </a:prstGeom>
          <a:solidFill>
            <a:srgbClr val="E8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690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Cobrança: fila de acionamentos sem classificação confiável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439826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motor real (crm_cobrança) não tem vínculo direto com as contas a receber, tornando arriscado classificar acionamentos como preventivo/reativo sem mais investigação.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133A63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5120640"/>
            <a:ext cx="82296" cy="960120"/>
          </a:xfrm>
          <a:prstGeom prst="roundRect">
            <a:avLst/>
          </a:prstGeom>
          <a:solidFill>
            <a:srgbClr val="E8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2120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Vistoria de POP fora da navegação central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554126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já roda em produção na mesma VM, mas ainda é acessado separadamente do Canaã Performance.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7 de 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Canaã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AÇÕES CORRETIVAS E PLANO DE MELHORIA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cada ponto de atenção será tratado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94360" cy="594360"/>
          </a:xfrm>
          <a:prstGeom prst="ellipse">
            <a:avLst/>
          </a:prstGeom>
          <a:solidFill>
            <a:srgbClr val="0A2A4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1709928"/>
            <a:ext cx="10287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E44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00200" y="1709928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identidade de "Manoel" e corrigir status de Ubiratan e Rafael Brito no cadastro de N2.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94360" cy="594360"/>
          </a:xfrm>
          <a:prstGeom prst="ellipse">
            <a:avLst/>
          </a:prstGeom>
          <a:solidFill>
            <a:srgbClr val="0A2A4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371600" y="2807208"/>
            <a:ext cx="10287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E44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00200" y="2807208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o desenho da fila de acionamentos de Cobrança: aprofundar em crm_cobrança, lançar sem o recorte preventivo/reativo, ou focar só em Inadimplência e Acordos.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94360" cy="594360"/>
          </a:xfrm>
          <a:prstGeom prst="ellipse">
            <a:avLst/>
          </a:prstGeom>
          <a:solidFill>
            <a:srgbClr val="0A2A4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31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371600" y="3904488"/>
            <a:ext cx="10287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E44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00200" y="3904488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Unificar a navegação da Vistoria de POP dentro do Canaã Performance, já que o sistema em si já está em produção.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594360" cy="594360"/>
          </a:xfrm>
          <a:prstGeom prst="ellipse">
            <a:avLst/>
          </a:prstGeom>
          <a:solidFill>
            <a:srgbClr val="0A2A4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29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371600" y="5001768"/>
            <a:ext cx="102870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1A2E44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00200" y="5001768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A2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a regra de exclusão de contas de teste no ranking de atendentes, garantindo que a Aprimorar continue sendo monitorada como qualquer colaborador.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8 de 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Canaã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D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PRÓXIMOS PASSOS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o cérebro operacional vai nos próximos meses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33A6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e Backoffice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os módulos completos: inadimplência por faixa, eficiência de acordos e auditoria de contratos/ouvidoria, após a decisão da seção anterior.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7373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33A63"/>
          </a:solidFill>
          <a:ln/>
        </p:spPr>
      </p:sp>
      <p:sp>
        <p:nvSpPr>
          <p:cNvPr id="10" name="Shape 8"/>
          <p:cNvSpPr/>
          <p:nvPr/>
        </p:nvSpPr>
        <p:spPr>
          <a:xfrm>
            <a:off x="4645152" y="2011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C9A7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45152" y="2743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ainda mais proativo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33832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Destravar as 3 lacunas já mapeadas: quedas de sinal, ocupação de portas dos POPs e retrabalho por técnico.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7373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33A63"/>
          </a:solidFill>
          <a:ln/>
        </p:spPr>
      </p:sp>
      <p:sp>
        <p:nvSpPr>
          <p:cNvPr id="15" name="Shape 13"/>
          <p:cNvSpPr/>
          <p:nvPr/>
        </p:nvSpPr>
        <p:spPr>
          <a:xfrm>
            <a:off x="8467344" y="20116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0C9A7"/>
          </a:solidFill>
          <a:ln/>
        </p:spPr>
      </p:sp>
      <p:sp>
        <p:nvSpPr>
          <p:cNvPr id="16" name="Text 14"/>
          <p:cNvSpPr/>
          <p:nvPr/>
        </p:nvSpPr>
        <p:spPr>
          <a:xfrm>
            <a:off x="8467344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D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67344" y="2743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hub, de verdade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7344" y="338328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Unificar a navegação da Vistoria de POP e aprofundar a comunicação entre Redes e Infraestrutura dentro do mesmo lugar.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marco: decisão sobre o desenho de Cobrança para destravar a próxima entrega.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9 de 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98855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Canaã Performance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2026-07-14T19:01:29Z</dcterms:created>
  <dcterms:modified xsi:type="dcterms:W3CDTF">2026-07-14T19:01:29Z</dcterms:modified>
</cp:coreProperties>
</file>